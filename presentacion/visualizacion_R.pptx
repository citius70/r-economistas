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1463040" cy="1463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y Análisis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en 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• Tablas de frecuencias • Estadística descriptiva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Universitario  •  Estadística e Informática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 Dispersión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Visualizan la relación entre dos variables numéricas con la función plot().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02336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5087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básico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92808"/>
            <a:ext cx="4023360" cy="19659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98424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c(1, 2, 3, 4, 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32257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&lt;- c(2, 4, 6, 8, 10)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66090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plot(x, y,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999232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 = "Gráfico de Dispersión",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33756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xlab = "Eje X", ylab = "Eje Y",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367588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pch = 16, col = "blue")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931920"/>
            <a:ext cx="4023360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9319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315968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159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 speed (X) vs. dist (Y) del dataset cars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data(cars);  plot(cars$speed, cars$dist)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508760"/>
            <a:ext cx="411480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50876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principales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96596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65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del gráfico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4231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 / ylab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de ejes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88036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803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8803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punto (1–25)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337560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375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3375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los puntos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79476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947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7947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los puntos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4251960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2519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xlim / ylim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425196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los ejes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 Barras y Sectores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Ideales para variables categóricas. Se usan con barplot() y pie().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173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– barplot()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4023360" cy="16916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89280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 &lt;- c('A','B','C','D','E')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23113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frecuencias &lt;- c(10,15,8,12,20)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56946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barplot(frecuencias,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907792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names.arg = categorias,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24612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 = "Barras",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358444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 = "green")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4023360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5661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– mtcars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950208"/>
            <a:ext cx="4023360" cy="10515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404164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data(mtcars)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437997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&lt;- table(mtcars$cyl)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471830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barplot(tabla,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5056632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col=c('grey','navy','red'))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417320"/>
            <a:ext cx="411480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41732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destacadas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80136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8013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horiz=TRUE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18013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258568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585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beside=TRUE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2585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agrupadas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271576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7157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27157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leyenda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172968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1729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names.arg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1729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de barras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63016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3016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36301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colores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4160520"/>
            <a:ext cx="4114800" cy="868680"/>
          </a:xfrm>
          <a:prstGeom prst="rect">
            <a:avLst/>
          </a:prstGeom>
          <a:solidFill>
            <a:srgbClr val="CADC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1605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Gráfico de sectores: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pie(tabla, main="Sectores")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Histogramas y Gráfico de Densidad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Representan la distribución de variables continuas agrupando datos en intervalos.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173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hist()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4023360" cy="1371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89280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hist(distancias)          # frecuencias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23113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hist(distancias, prob=TRUE) # densidad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56946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hist(distancias, breaks=20) # más barras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02336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2461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número de clases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630168"/>
            <a:ext cx="4023360" cy="960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72160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par(mfrow=c(1,3))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405993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hist(x, breaks=2,  main="Pocas clases")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439826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hist(x, breaks=50, main="Muchas clases")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4736592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hist(x, main="Sturges (defecto)")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11480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41732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principales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180136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013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8013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barras / método de corte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258568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2585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prob=TRUE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2585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en lugar de frecuencia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71576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715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7157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del histograma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172968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1729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las barras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63016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6301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6301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del eje X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4206240"/>
            <a:ext cx="411480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206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Regla de Sturges: R calcula automáticamente el nº óptimo de clases. Con pocas clases se pierden detalles; con muchas, aumenta el ruido.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Caja (Boxplot)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posición, dispersión, asimetría y detecta valores atípicos.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0972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0972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109728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86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697480"/>
            <a:ext cx="10972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97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10972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109728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20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 (bigotes)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1417320"/>
            <a:ext cx="274320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141732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1801368"/>
            <a:ext cx="2743200" cy="118872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189280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boxplot(distancias,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223113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horizontal=TRUE)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35808" y="256946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35808" y="29077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grupos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35808" y="32461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boxplot(mpg~cyl,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35808" y="358444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data=mtcars)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3063240"/>
            <a:ext cx="274320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306324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0" y="3447288"/>
            <a:ext cx="2743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3447288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344728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horizontal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3767328"/>
            <a:ext cx="27432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3767328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varwidth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376732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proporcional a 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4087368"/>
            <a:ext cx="2743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087368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0" y="408736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Muesca en mediana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4407408"/>
            <a:ext cx="27432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4407408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0" y="44074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las cajas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26080" y="4727448"/>
            <a:ext cx="27432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4727448"/>
            <a:ext cx="1234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outline=FALSE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0" y="472744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atípicos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89320" y="1417320"/>
            <a:ext cx="2834640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99048" y="14173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+ Matriz pairs()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989320" y="1801368"/>
            <a:ext cx="2834640" cy="15087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1892808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Ejercicio 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99048" y="223113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boxplot(mpg~cyl, data=mtcars,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99048" y="2569464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main="mpg por cilindros")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99048" y="2907792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99048" y="324612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Matriz de dispersión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99048" y="3584448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pairs(~mpg+disp+hp+wt,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99048" y="3922776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data=mtcars)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89320" y="338328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42900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pairs() genera una matriz completa de gráficos de dispersión para ver las relaciones entre múltiples variables simultáneamente.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correlación de Pearson mide la relación lineal entre dos variables continuas.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55448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perfecta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463040"/>
            <a:ext cx="1554480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 moderada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1463040"/>
            <a:ext cx="1554480" cy="347472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554480" cy="34747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moderada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1463040"/>
            <a:ext cx="15544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184708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 perfecta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402336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6517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cor()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402336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12724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pediatria &lt;- read.csv2("children.csv")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346557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Correlación en valor absoluto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80390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&lt;- abs(cor(pediatria[,-1]))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" y="4142232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" y="448056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       edad   peso  talla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" y="481888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edad  1.000  0.819  0.867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515721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peso  0.819  1.000  0.903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" y="549554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talla 0.867  0.903  1.000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651760"/>
            <a:ext cx="4114800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65176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 – children.csv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3035808"/>
            <a:ext cx="4114800" cy="13716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12724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Cargar datos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18888" y="3465576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 &lt;- read.csv2("children.csv")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18888" y="3803904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 &lt;- ped[,-1]   # eliminar col.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4142232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Matriz dispersión por sexo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18888" y="448056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pairs(ped[,c('edad','peso','talla')])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18888" y="481888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Coef. correlación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18888" y="5157216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cor(ped[,c('edad','peso','talla')])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4480560"/>
            <a:ext cx="4114800" cy="530352"/>
          </a:xfrm>
          <a:prstGeom prst="rect">
            <a:avLst/>
          </a:prstGeom>
          <a:solidFill>
            <a:srgbClr val="CADC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4805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Correlación alta (|r| &gt; 0.8) indica relación lineal fuerte, pero no implica causalidad.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Frecuencias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distribución para variables cualitativas y cuantitativas.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2336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1732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Unidimensional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4023360" cy="96012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89280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tabla1d &lt;- table(datos$sexo)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23113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Hombre: 258  Mujer: 216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56946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tabla1d.rel &lt;- prop.table(tabla1d)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907792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Hombre: 0.544  Mujer: 0.456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02336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83464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Bidimensional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18688"/>
            <a:ext cx="4023360" cy="132588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31012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tab2d &lt;- table(datos$sexo, datos$catlab)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364845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Porcentajes por filas: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3986784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prop.table(tab2d, 1)*100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4325112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Porcentajes por columnas: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466344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prop.table(tab2d, 2)*100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5001768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Porcentajes del total: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" y="5340096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prop.table(tab2d)*100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417320"/>
            <a:ext cx="4114800" cy="384048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141732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completa ni / Ni / fi / Fi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801368"/>
            <a:ext cx="4114800" cy="155448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189280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  &lt;- table(datos$educ)    # ni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231136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 &lt;- cumsum(fa)            # Ni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2569464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  &lt;- prop.table(fa)        # fi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2907792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frc &lt;- cumsum(fr)            # Fi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3246120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mitabla &lt;- data.frame(fa, fac, fr, frc)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584448"/>
            <a:ext cx="3895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colnames(mitabla) &lt;- c('Data','ni','Ni','fi','Fi')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429000"/>
            <a:ext cx="1005840" cy="32004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429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3429000"/>
            <a:ext cx="594360" cy="32004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4290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429000"/>
            <a:ext cx="594360" cy="32004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4290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3429000"/>
            <a:ext cx="685800" cy="32004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34290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0" y="3429000"/>
            <a:ext cx="731520" cy="32004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3429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749040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74904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3749040"/>
            <a:ext cx="594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74904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3749040"/>
            <a:ext cx="594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374904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40880" y="3749040"/>
            <a:ext cx="685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3749040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772400" y="3749040"/>
            <a:ext cx="731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0" y="374904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4069080"/>
            <a:ext cx="100584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0690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760720" y="4069080"/>
            <a:ext cx="59436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406908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0" y="4069080"/>
            <a:ext cx="59436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406908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040880" y="4069080"/>
            <a:ext cx="68580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4069080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772400" y="4069080"/>
            <a:ext cx="73152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0" y="406908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09160" y="4389120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438912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760720" y="4389120"/>
            <a:ext cx="594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60720" y="438912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0" y="4389120"/>
            <a:ext cx="594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0" y="438912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040880" y="4389120"/>
            <a:ext cx="685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40880" y="4389120"/>
            <a:ext cx="685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0.245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772400" y="4389120"/>
            <a:ext cx="731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72400" y="43891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709160" y="4709160"/>
            <a:ext cx="411480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18888" y="470916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numéricas → cut()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00584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41732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aritmética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274320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5623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median(x)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185623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951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quantile(x, 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2951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Cuantiles / cuartiles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2743200" cy="1490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834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mean(datos$salario)   # 34419.57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31729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median(datos$salario) # 28875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35112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quantile(datos$salario,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84962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c(0.25,0.5,0.75))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1005840"/>
            <a:ext cx="274320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00584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1417320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4173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var(x) / sd(x)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41732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/ Desv. típica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856232"/>
            <a:ext cx="274320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85623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IQR(x)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185623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intercuartílico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295144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2951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max(x)-min(x)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2951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743200"/>
            <a:ext cx="2743200" cy="1490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2834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sd(datos$salario)  # 17075.66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55848" y="31729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IQR(datos$salario) # 12937.5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55848" y="35112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rango &lt;- max(x)-min(x)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384962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&lt;- sd(x)/abs(mean(x))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100584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100584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72200" y="1417320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14173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skewness(x)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141732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de Fisher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1856232"/>
            <a:ext cx="274320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185623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kurtosis(x)-3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35240" y="185623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curtosis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2295144"/>
            <a:ext cx="2743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29514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hist(x)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35240" y="22951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distribución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72200" y="2743200"/>
            <a:ext cx="274320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283464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library(moments)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81928" y="317296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skewness(datos$salario)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81928" y="3511296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2.12  (asimétrica +)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81928" y="384962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kurtosis(datos$tiempemp)-3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81928" y="41879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-1.15 (platicúrtica)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Asimetría &gt; 0 → cola derecha larga.  Curtosis &gt; 0 → distribución más apuntada que la Normal (leptocúrtica).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gráfico usar?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91440" cy="62179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05156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7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plot(x,y)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05156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2 variables numéricas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19072"/>
            <a:ext cx="91440" cy="6217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1907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1719072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barplot()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71907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variable categórica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38658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86584"/>
            <a:ext cx="91440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86584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2386584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38658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Proporciones de una categoría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05409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54096"/>
            <a:ext cx="91440" cy="6217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54096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305409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05409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variable continua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72160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721608"/>
            <a:ext cx="91440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2160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94560" y="372160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boxplot()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372160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Posición, dispersión y atípicos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38912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389120"/>
            <a:ext cx="9144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38912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94560" y="438912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pairs()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438912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múltiples variables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plot(), barplot(), hist(), boxplot() y pairs() son las funciones gráficas básicas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table() y prop.table() permiten construir tablas de frecuencias uni y bidimensionales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medidas de posición (media, mediana, cuantiles) describen el centro de los datos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31012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medidas de dispersión (sd, IQR) cuantifican la variabilidad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04164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y curtosis describen la forma de la distribución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visualizar datos con R!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Visualización y Análisis de Datos en R</dc:title>
  <dc:subject>PptxGenJS Presentation</dc:subject>
  <dc:creator>PptxGenJS</dc:creator>
  <cp:lastModifiedBy>PptxGenJS</cp:lastModifiedBy>
  <cp:revision>1</cp:revision>
  <dcterms:created xsi:type="dcterms:W3CDTF">2026-03-07T01:09:25Z</dcterms:created>
  <dcterms:modified xsi:type="dcterms:W3CDTF">2026-03-07T01:09:25Z</dcterms:modified>
</cp:coreProperties>
</file>